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3.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2.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Default Extension="jpg" ContentType="image/jpeg"/>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300" r:id="rId8"/>
    <p:sldId id="301" r:id="rId9"/>
    <p:sldId id="302" r:id="rId13"/>
    <p:sldId id="303" r:id="rId15"/>
    <p:sldId id="304" r:id="rId16"/>
    <p:sldId id="305" r:id="rId18"/>
    <p:sldId id="306"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8" Type="http://schemas.openxmlformats.org/officeDocument/2006/relationships/slide" Target="slides/slide2.xml"/><Relationship Id="rId13"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8a8b58795f_2_0:notes"/>
          <p:cNvSpPr/>
          <p:nvPr>
            <p:ph idx="2" type="sldImg"/>
          </p:nvPr>
        </p:nvSpPr>
        <p:spPr>
          <a:xfrm>
            <a:off x="343070" y="428572"/>
            <a:ext cx="2742900" cy="115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28a8b58795f_2_0:notes"/>
          <p:cNvSpPr txBox="1"/>
          <p:nvPr>
            <p:ph idx="1" type="body"/>
          </p:nvPr>
        </p:nvSpPr>
        <p:spPr>
          <a:xfrm>
            <a:off x="342900" y="1650002"/>
            <a:ext cx="2743200" cy="1350000"/>
          </a:xfrm>
          <a:prstGeom prst="rect">
            <a:avLst/>
          </a:prstGeom>
          <a:noFill/>
          <a:ln>
            <a:noFill/>
          </a:ln>
        </p:spPr>
        <p:txBody>
          <a:bodyPr/>
          <a:lstStyle/>
          <a:p>
            <a:r>
              <a:t>Hi, I’m Dionis. My friend Zhenya and I are building Fragment, a cooperative browser game for four players. We wanted to make a game where the most interesting part is how people learn to understand each other.</a:t>
            </a:r>
          </a:p>
          <a:p>
            <a:r>
              <a:t>Привет, я Дионис. Мы с моим другом Женей создаём Fragment — кооперативную браузерную игру для четырёх игроков. Мы хотели сделать игру, в которой самое интересное — то, как люди учатся понимать друг друга.</a:t>
            </a:r>
          </a:p>
          <a:p>
            <a:r>
              <a:t>Sources: https://github.com/stemdionis-crypto/Fragment ; https://idosgames.com/app/49HLIN0J/ ; updated 11 October 2026.</a:t>
            </a:r>
          </a:p>
        </p:txBody>
      </p:sp>
      <p:sp>
        <p:nvSpPr>
          <p:cNvPr id="198" name="Google Shape;198;g28a8b58795f_2_0:notes"/>
          <p:cNvSpPr txBox="1"/>
          <p:nvPr>
            <p:ph idx="12" type="sldNum"/>
          </p:nvPr>
        </p:nvSpPr>
        <p:spPr>
          <a:xfrm>
            <a:off x="1942306" y="3256551"/>
            <a:ext cx="1485900" cy="171900"/>
          </a:xfrm>
          <a:prstGeom prst="rect">
            <a:avLst/>
          </a:prstGeom>
          <a:noFill/>
          <a:ln>
            <a:noFill/>
          </a:ln>
        </p:spPr>
        <p:txBody>
          <a:bodyPr anchorCtr="0" anchor="b" bIns="20950" lIns="41900" spcFirstLastPara="1" rIns="41900" wrap="square" tIns="20950">
            <a:noAutofit/>
          </a:bodyPr>
          <a:lstStyle/>
          <a:p>
            <a:pPr indent="0" lvl="0" marL="0" rtl="0" algn="r">
              <a:spcBef>
                <a:spcPts val="0"/>
              </a:spcBef>
              <a:spcAft>
                <a:spcPts val="0"/>
              </a:spcAft>
              <a:buNone/>
            </a:pPr>
            <a:fld id="{00000000-1234-1234-1234-123412341234}" type="slidenum">
              <a:rPr lang="en" sz="600"/>
              <a:t>‹#›</a:t>
            </a:fld>
            <a:endParaRPr sz="6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8a8b58795f_2_25:notes"/>
          <p:cNvSpPr/>
          <p:nvPr>
            <p:ph idx="2" type="sldImg"/>
          </p:nvPr>
        </p:nvSpPr>
        <p:spPr>
          <a:xfrm>
            <a:off x="343070" y="428572"/>
            <a:ext cx="2742900" cy="115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28a8b58795f_2_25:notes"/>
          <p:cNvSpPr txBox="1"/>
          <p:nvPr>
            <p:ph idx="1" type="body"/>
          </p:nvPr>
        </p:nvSpPr>
        <p:spPr>
          <a:xfrm>
            <a:off x="342900" y="1650002"/>
            <a:ext cx="2743200" cy="1350000"/>
          </a:xfrm>
          <a:prstGeom prst="rect">
            <a:avLst/>
          </a:prstGeom>
          <a:noFill/>
          <a:ln>
            <a:noFill/>
          </a:ln>
        </p:spPr>
        <p:txBody>
          <a:bodyPr/>
          <a:lstStyle/>
          <a:p>
            <a:r>
              <a:t>Each player sees only part of a puzzle. You describe your pictures to the team, but a radio listens to your messages and blocks obvious words. You have to find another way to explain the same thing.</a:t>
            </a:r>
          </a:p>
          <a:p>
            <a:r>
              <a:t>Каждый игрок видит только часть головоломки. Вы описываете свои картинки команде, но радио слушает сообщения и блокирует очевидные слова. Приходится искать другой способ объяснить то же самое.</a:t>
            </a:r>
          </a:p>
          <a:p>
            <a:r>
              <a:t>Sources: https://github.com/stemdionis-crypto/Fragment ; https://idosgames.com/app/49HLIN0J/ ; updated 11 October 2026.</a:t>
            </a:r>
          </a:p>
        </p:txBody>
      </p:sp>
      <p:sp>
        <p:nvSpPr>
          <p:cNvPr id="224" name="Google Shape;224;g28a8b58795f_2_25:notes"/>
          <p:cNvSpPr txBox="1"/>
          <p:nvPr>
            <p:ph idx="12" type="sldNum"/>
          </p:nvPr>
        </p:nvSpPr>
        <p:spPr>
          <a:xfrm>
            <a:off x="1942306" y="3256551"/>
            <a:ext cx="1485900" cy="171900"/>
          </a:xfrm>
          <a:prstGeom prst="rect">
            <a:avLst/>
          </a:prstGeom>
          <a:noFill/>
          <a:ln>
            <a:noFill/>
          </a:ln>
        </p:spPr>
        <p:txBody>
          <a:bodyPr anchorCtr="0" anchor="b" bIns="20950" lIns="41900" spcFirstLastPara="1" rIns="41900" wrap="square" tIns="20950">
            <a:noAutofit/>
          </a:bodyPr>
          <a:lstStyle/>
          <a:p>
            <a:pPr indent="0" lvl="0" marL="0" rtl="0" algn="r">
              <a:spcBef>
                <a:spcPts val="0"/>
              </a:spcBef>
              <a:spcAft>
                <a:spcPts val="0"/>
              </a:spcAft>
              <a:buNone/>
            </a:pPr>
            <a:fld id="{00000000-1234-1234-1234-123412341234}" type="slidenum">
              <a:rPr lang="en" sz="600"/>
              <a:t>‹#›</a:t>
            </a:fld>
            <a:endParaRPr sz="6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8a8b58795f_2_271:notes"/>
          <p:cNvSpPr/>
          <p:nvPr>
            <p:ph idx="2" type="sldImg"/>
          </p:nvPr>
        </p:nvSpPr>
        <p:spPr>
          <a:xfrm>
            <a:off x="343070" y="428572"/>
            <a:ext cx="2742900" cy="115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g28a8b58795f_2_271:notes"/>
          <p:cNvSpPr txBox="1"/>
          <p:nvPr>
            <p:ph idx="1" type="body"/>
          </p:nvPr>
        </p:nvSpPr>
        <p:spPr>
          <a:xfrm>
            <a:off x="342900" y="1650002"/>
            <a:ext cx="2743200" cy="1350000"/>
          </a:xfrm>
          <a:prstGeom prst="rect">
            <a:avLst/>
          </a:prstGeom>
          <a:noFill/>
          <a:ln>
            <a:noFill/>
          </a:ln>
        </p:spPr>
        <p:txBody>
          <a:bodyPr/>
          <a:lstStyle/>
          <a:p>
            <a:r>
              <a:t>That simple rule creates funny conversations and a shared language. Fragment is for friends who enjoy solving problems together.</a:t>
            </a:r>
          </a:p>
          <a:p>
            <a:r>
              <a:t>Это простое правило создаёт смешные разговоры и общий язык. Fragment — для друзей, которым нравится вместе решать задачи.</a:t>
            </a:r>
          </a:p>
          <a:p>
            <a:r>
              <a:t>Sources: https://github.com/stemdionis-crypto/Fragment ; https://idosgames.com/app/49HLIN0J/ ; updated 11 October 2026.</a:t>
            </a:r>
          </a:p>
        </p:txBody>
      </p:sp>
      <p:sp>
        <p:nvSpPr>
          <p:cNvPr id="474" name="Google Shape;474;g28a8b58795f_2_271:notes"/>
          <p:cNvSpPr txBox="1"/>
          <p:nvPr>
            <p:ph idx="12" type="sldNum"/>
          </p:nvPr>
        </p:nvSpPr>
        <p:spPr>
          <a:xfrm>
            <a:off x="1942306" y="3256551"/>
            <a:ext cx="1485900" cy="171900"/>
          </a:xfrm>
          <a:prstGeom prst="rect">
            <a:avLst/>
          </a:prstGeom>
          <a:noFill/>
          <a:ln>
            <a:noFill/>
          </a:ln>
        </p:spPr>
        <p:txBody>
          <a:bodyPr anchorCtr="0" anchor="b" bIns="20950" lIns="41900" spcFirstLastPara="1" rIns="41900" wrap="square" tIns="20950">
            <a:noAutofit/>
          </a:bodyPr>
          <a:lstStyle/>
          <a:p>
            <a:pPr indent="0" lvl="0" marL="0" rtl="0" algn="r">
              <a:spcBef>
                <a:spcPts val="0"/>
              </a:spcBef>
              <a:spcAft>
                <a:spcPts val="0"/>
              </a:spcAft>
              <a:buNone/>
            </a:pPr>
            <a:fld id="{00000000-1234-1234-1234-123412341234}" type="slidenum">
              <a:rPr lang="en" sz="600"/>
              <a:t>‹#›</a:t>
            </a:fld>
            <a:endParaRPr sz="6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28a8b58795f_2_437:notes"/>
          <p:cNvSpPr/>
          <p:nvPr>
            <p:ph idx="2" type="sldImg"/>
          </p:nvPr>
        </p:nvSpPr>
        <p:spPr>
          <a:xfrm>
            <a:off x="343070" y="428572"/>
            <a:ext cx="2742900" cy="115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g28a8b58795f_2_437:notes"/>
          <p:cNvSpPr txBox="1"/>
          <p:nvPr>
            <p:ph idx="1" type="body"/>
          </p:nvPr>
        </p:nvSpPr>
        <p:spPr>
          <a:xfrm>
            <a:off x="342900" y="1650002"/>
            <a:ext cx="2743200" cy="1350000"/>
          </a:xfrm>
          <a:prstGeom prst="rect">
            <a:avLst/>
          </a:prstGeom>
          <a:noFill/>
          <a:ln>
            <a:noFill/>
          </a:ln>
        </p:spPr>
        <p:txBody>
          <a:bodyPr/>
          <a:lstStyle/>
          <a:p>
            <a:r>
              <a:t>The game is already live on iDos Games. A match has five trials, with fifteen types in the game. Players can invite friends, find a team, or practise with bots.</a:t>
            </a:r>
          </a:p>
          <a:p>
            <a:r>
              <a:t>Игра уже опубликована на iDos Games. В матче пять испытаний, а всего в игре пятнадцать типов. Можно пригласить друзей, найти команду или потренироваться с ботами.</a:t>
            </a:r>
          </a:p>
          <a:p>
            <a:r>
              <a:t>Sources: https://github.com/stemdionis-crypto/Fragment ; https://idosgames.com/app/49HLIN0J/ ; updated 11 October 2026.</a:t>
            </a:r>
          </a:p>
        </p:txBody>
      </p:sp>
      <p:sp>
        <p:nvSpPr>
          <p:cNvPr id="642" name="Google Shape;642;g28a8b58795f_2_437:notes"/>
          <p:cNvSpPr txBox="1"/>
          <p:nvPr>
            <p:ph idx="12" type="sldNum"/>
          </p:nvPr>
        </p:nvSpPr>
        <p:spPr>
          <a:xfrm>
            <a:off x="1942306" y="3256551"/>
            <a:ext cx="1485900" cy="171900"/>
          </a:xfrm>
          <a:prstGeom prst="rect">
            <a:avLst/>
          </a:prstGeom>
          <a:noFill/>
          <a:ln>
            <a:noFill/>
          </a:ln>
        </p:spPr>
        <p:txBody>
          <a:bodyPr anchorCtr="0" anchor="b" bIns="20950" lIns="41900" spcFirstLastPara="1" rIns="41900" wrap="square" tIns="20950">
            <a:noAutofit/>
          </a:bodyPr>
          <a:lstStyle/>
          <a:p>
            <a:pPr indent="0" lvl="0" marL="0" rtl="0" algn="r">
              <a:spcBef>
                <a:spcPts val="0"/>
              </a:spcBef>
              <a:spcAft>
                <a:spcPts val="0"/>
              </a:spcAft>
              <a:buNone/>
            </a:pPr>
            <a:fld id="{00000000-1234-1234-1234-123412341234}" type="slidenum">
              <a:rPr lang="en" sz="600"/>
              <a:t>‹#›</a:t>
            </a:fld>
            <a:endParaRPr sz="6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28a8b58795f_2_481:notes"/>
          <p:cNvSpPr/>
          <p:nvPr>
            <p:ph idx="2" type="sldImg"/>
          </p:nvPr>
        </p:nvSpPr>
        <p:spPr>
          <a:xfrm>
            <a:off x="343070" y="428572"/>
            <a:ext cx="2742900" cy="115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6" name="Google Shape;686;g28a8b58795f_2_481:notes"/>
          <p:cNvSpPr txBox="1"/>
          <p:nvPr>
            <p:ph idx="1" type="body"/>
          </p:nvPr>
        </p:nvSpPr>
        <p:spPr>
          <a:xfrm>
            <a:off x="342900" y="1650002"/>
            <a:ext cx="2743200" cy="1350000"/>
          </a:xfrm>
          <a:prstGeom prst="rect">
            <a:avLst/>
          </a:prstGeom>
          <a:noFill/>
          <a:ln>
            <a:noFill/>
          </a:ln>
        </p:spPr>
        <p:txBody>
          <a:bodyPr/>
          <a:lstStyle/>
          <a:p>
            <a:r>
              <a:t>We have also launched FRAG on Solana. Through iDos, players can use FRAG to buy Signals, our in-game currency, and spend them on cosmetics. Signals stay inside the game. Bot matches do not generate economic rewards. NFT cosmetics are a future step.</a:t>
            </a:r>
          </a:p>
          <a:p>
            <a:r>
              <a:t>Мы также выпустили FRAG в Solana. Через iDos игроки могут покупать за FRAG Signals — нашу внутриигровую валюту — и тратить её на косметические предметы. Signals остаются внутри игры. Матчи с ботами не дают экономических наград. NFT-предметы — следующий этап.</a:t>
            </a:r>
          </a:p>
          <a:p>
            <a:r>
              <a:t>Sources: https://github.com/stemdionis-crypto/Fragment ; https://idosgames.com/app/49HLIN0J/ ; updated 11 October 2026.</a:t>
            </a:r>
          </a:p>
        </p:txBody>
      </p:sp>
      <p:sp>
        <p:nvSpPr>
          <p:cNvPr id="687" name="Google Shape;687;g28a8b58795f_2_481:notes"/>
          <p:cNvSpPr txBox="1"/>
          <p:nvPr>
            <p:ph idx="12" type="sldNum"/>
          </p:nvPr>
        </p:nvSpPr>
        <p:spPr>
          <a:xfrm>
            <a:off x="1942306" y="3256551"/>
            <a:ext cx="1485900" cy="171900"/>
          </a:xfrm>
          <a:prstGeom prst="rect">
            <a:avLst/>
          </a:prstGeom>
          <a:noFill/>
          <a:ln>
            <a:noFill/>
          </a:ln>
        </p:spPr>
        <p:txBody>
          <a:bodyPr anchorCtr="0" anchor="b" bIns="20950" lIns="41900" spcFirstLastPara="1" rIns="41900" wrap="square" tIns="20950">
            <a:noAutofit/>
          </a:bodyPr>
          <a:lstStyle/>
          <a:p>
            <a:pPr indent="0" lvl="0" marL="0" rtl="0" algn="r">
              <a:spcBef>
                <a:spcPts val="0"/>
              </a:spcBef>
              <a:spcAft>
                <a:spcPts val="0"/>
              </a:spcAft>
              <a:buNone/>
            </a:pPr>
            <a:fld id="{00000000-1234-1234-1234-123412341234}" type="slidenum">
              <a:rPr lang="en" sz="600"/>
              <a:t>‹#›</a:t>
            </a:fld>
            <a:endParaRPr sz="6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28a8b58795f_2_577:notes"/>
          <p:cNvSpPr/>
          <p:nvPr>
            <p:ph idx="2" type="sldImg"/>
          </p:nvPr>
        </p:nvSpPr>
        <p:spPr>
          <a:xfrm>
            <a:off x="343070" y="428572"/>
            <a:ext cx="2742900" cy="115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g28a8b58795f_2_577:notes"/>
          <p:cNvSpPr txBox="1"/>
          <p:nvPr>
            <p:ph idx="1" type="body"/>
          </p:nvPr>
        </p:nvSpPr>
        <p:spPr>
          <a:xfrm>
            <a:off x="342900" y="1650002"/>
            <a:ext cx="2743200" cy="1350000"/>
          </a:xfrm>
          <a:prstGeom prst="rect">
            <a:avLst/>
          </a:prstGeom>
          <a:noFill/>
          <a:ln>
            <a:noFill/>
          </a:ln>
        </p:spPr>
        <p:txBody>
          <a:bodyPr/>
          <a:lstStyle/>
          <a:p>
            <a:r>
              <a:t>We build and test the game together, and improve it based on what happens when people play.</a:t>
            </a:r>
          </a:p>
          <a:p>
            <a:r>
              <a:t>Мы вместе создаём и тестируем игру, а затем улучшаем её на основе того, что происходит во время реальных матчей.</a:t>
            </a:r>
          </a:p>
          <a:p>
            <a:r>
              <a:t>Sources: https://github.com/stemdionis-crypto/Fragment ; https://idosgames.com/app/49HLIN0J/ ; updated 11 October 2026.</a:t>
            </a:r>
          </a:p>
        </p:txBody>
      </p:sp>
      <p:sp>
        <p:nvSpPr>
          <p:cNvPr id="785" name="Google Shape;785;g28a8b58795f_2_577:notes"/>
          <p:cNvSpPr txBox="1"/>
          <p:nvPr>
            <p:ph idx="12" type="sldNum"/>
          </p:nvPr>
        </p:nvSpPr>
        <p:spPr>
          <a:xfrm>
            <a:off x="1942306" y="3256551"/>
            <a:ext cx="1485900" cy="171900"/>
          </a:xfrm>
          <a:prstGeom prst="rect">
            <a:avLst/>
          </a:prstGeom>
          <a:noFill/>
          <a:ln>
            <a:noFill/>
          </a:ln>
        </p:spPr>
        <p:txBody>
          <a:bodyPr anchorCtr="0" anchor="b" bIns="20950" lIns="41900" spcFirstLastPara="1" rIns="41900" wrap="square" tIns="20950">
            <a:noAutofit/>
          </a:bodyPr>
          <a:lstStyle/>
          <a:p>
            <a:pPr indent="0" lvl="0" marL="0" rtl="0" algn="r">
              <a:spcBef>
                <a:spcPts val="0"/>
              </a:spcBef>
              <a:spcAft>
                <a:spcPts val="0"/>
              </a:spcAft>
              <a:buNone/>
            </a:pPr>
            <a:fld id="{00000000-1234-1234-1234-123412341234}" type="slidenum">
              <a:rPr lang="en" sz="600"/>
              <a:t>‹#›</a:t>
            </a:fld>
            <a:endParaRPr sz="6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8a8b58795f_2_625:notes"/>
          <p:cNvSpPr/>
          <p:nvPr>
            <p:ph idx="2" type="sldImg"/>
          </p:nvPr>
        </p:nvSpPr>
        <p:spPr>
          <a:xfrm>
            <a:off x="343070" y="428572"/>
            <a:ext cx="2742900" cy="115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3" name="Google Shape;833;g28a8b58795f_2_625:notes"/>
          <p:cNvSpPr txBox="1"/>
          <p:nvPr>
            <p:ph idx="1" type="body"/>
          </p:nvPr>
        </p:nvSpPr>
        <p:spPr>
          <a:xfrm>
            <a:off x="342900" y="1650002"/>
            <a:ext cx="2743200" cy="1350000"/>
          </a:xfrm>
          <a:prstGeom prst="rect">
            <a:avLst/>
          </a:prstGeom>
          <a:noFill/>
          <a:ln>
            <a:noFill/>
          </a:ln>
        </p:spPr>
        <p:txBody>
          <a:bodyPr/>
          <a:lstStyle/>
          <a:p>
            <a:r>
              <a:t>Our next focus is clearer tutorials and stronger reasons to return. We plan to reach players through gameplay clips and community playtests, and support the game through optional cosmetics. We want every match to leave players with a story they made together.</a:t>
            </a:r>
          </a:p>
          <a:p>
            <a:r>
              <a:t>Сейчас мы сосредоточены на понятном обучении и причинах возвращаться в игру. Планируем привлекать игроков роликами с геймплеем и совместными тестами с сообществом, а поддерживать проект продажей необязательной косметики. Мы хотим, чтобы после каждого матча у игроков оставалась история, которую они создали вместе.</a:t>
            </a:r>
          </a:p>
          <a:p>
            <a:r>
              <a:t>Sources: https://github.com/stemdionis-crypto/Fragment ; https://idosgames.com/app/49HLIN0J/ ; updated 11 October 2026.</a:t>
            </a:r>
          </a:p>
        </p:txBody>
      </p:sp>
      <p:sp>
        <p:nvSpPr>
          <p:cNvPr id="834" name="Google Shape;834;g28a8b58795f_2_625:notes"/>
          <p:cNvSpPr txBox="1"/>
          <p:nvPr>
            <p:ph idx="12" type="sldNum"/>
          </p:nvPr>
        </p:nvSpPr>
        <p:spPr>
          <a:xfrm>
            <a:off x="1942306" y="3256551"/>
            <a:ext cx="1485900" cy="171900"/>
          </a:xfrm>
          <a:prstGeom prst="rect">
            <a:avLst/>
          </a:prstGeom>
          <a:noFill/>
          <a:ln>
            <a:noFill/>
          </a:ln>
        </p:spPr>
        <p:txBody>
          <a:bodyPr anchorCtr="0" anchor="b" bIns="20950" lIns="41900" spcFirstLastPara="1" rIns="41900" wrap="square" tIns="20950">
            <a:noAutofit/>
          </a:bodyPr>
          <a:lstStyle/>
          <a:p>
            <a:pPr indent="0" lvl="0" marL="0" rtl="0" algn="r">
              <a:spcBef>
                <a:spcPts val="0"/>
              </a:spcBef>
              <a:spcAft>
                <a:spcPts val="0"/>
              </a:spcAft>
              <a:buNone/>
            </a:pPr>
            <a:fld id="{00000000-1234-1234-1234-123412341234}" type="slidenum">
              <a:rPr lang="en" sz="600"/>
              <a:t>‹#›</a:t>
            </a:fld>
            <a:endParaRPr sz="6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14"/>
          <p:cNvGrpSpPr/>
          <p:nvPr/>
        </p:nvGrpSpPr>
        <p:grpSpPr>
          <a:xfrm>
            <a:off x="0" y="490"/>
            <a:ext cx="5153705" cy="5134399"/>
            <a:chOff x="0" y="75"/>
            <a:chExt cx="5153705" cy="5152950"/>
          </a:xfrm>
        </p:grpSpPr>
        <p:sp>
          <p:nvSpPr>
            <p:cNvPr id="57" name="Google Shape;57;p14"/>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 name="Google Shape;61;p14"/>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62" name="Google Shape;62;p14"/>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None/>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grpSp>
        <p:nvGrpSpPr>
          <p:cNvPr id="65" name="Google Shape;65;p15"/>
          <p:cNvGrpSpPr/>
          <p:nvPr/>
        </p:nvGrpSpPr>
        <p:grpSpPr>
          <a:xfrm>
            <a:off x="4406400" y="0"/>
            <a:ext cx="4737600" cy="5143065"/>
            <a:chOff x="4406400" y="0"/>
            <a:chExt cx="4737600" cy="5143065"/>
          </a:xfrm>
        </p:grpSpPr>
        <p:sp>
          <p:nvSpPr>
            <p:cNvPr id="66" name="Google Shape;66;p15"/>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5"/>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15"/>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5" name="Google Shape;8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6" name="Shape 86"/>
        <p:cNvGrpSpPr/>
        <p:nvPr/>
      </p:nvGrpSpPr>
      <p:grpSpPr>
        <a:xfrm>
          <a:off x="0" y="0"/>
          <a:ext cx="0" cy="0"/>
          <a:chOff x="0" y="0"/>
          <a:chExt cx="0" cy="0"/>
        </a:xfrm>
      </p:grpSpPr>
      <p:grpSp>
        <p:nvGrpSpPr>
          <p:cNvPr id="87" name="Google Shape;87;p16"/>
          <p:cNvGrpSpPr/>
          <p:nvPr/>
        </p:nvGrpSpPr>
        <p:grpSpPr>
          <a:xfrm>
            <a:off x="0" y="381001"/>
            <a:ext cx="1037850" cy="1016287"/>
            <a:chOff x="0" y="381001"/>
            <a:chExt cx="1037850" cy="1016287"/>
          </a:xfrm>
        </p:grpSpPr>
        <p:sp>
          <p:nvSpPr>
            <p:cNvPr id="88" name="Google Shape;88;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92" name="Google Shape;92;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3" name="Shape 93"/>
        <p:cNvGrpSpPr/>
        <p:nvPr/>
      </p:nvGrpSpPr>
      <p:grpSpPr>
        <a:xfrm>
          <a:off x="0" y="0"/>
          <a:ext cx="0" cy="0"/>
          <a:chOff x="0" y="0"/>
          <a:chExt cx="0" cy="0"/>
        </a:xfrm>
      </p:grpSpPr>
      <p:grpSp>
        <p:nvGrpSpPr>
          <p:cNvPr id="94" name="Google Shape;94;p17"/>
          <p:cNvGrpSpPr/>
          <p:nvPr/>
        </p:nvGrpSpPr>
        <p:grpSpPr>
          <a:xfrm>
            <a:off x="0" y="381001"/>
            <a:ext cx="1037850" cy="1016287"/>
            <a:chOff x="0" y="381001"/>
            <a:chExt cx="1037850" cy="1016287"/>
          </a:xfrm>
        </p:grpSpPr>
        <p:sp>
          <p:nvSpPr>
            <p:cNvPr id="95" name="Google Shape;95;p1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1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8" name="Google Shape;98;p17"/>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99" name="Google Shape;99;p17"/>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0" name="Google Shape;100;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 name="Shape 101"/>
        <p:cNvGrpSpPr/>
        <p:nvPr/>
      </p:nvGrpSpPr>
      <p:grpSpPr>
        <a:xfrm>
          <a:off x="0" y="0"/>
          <a:ext cx="0" cy="0"/>
          <a:chOff x="0" y="0"/>
          <a:chExt cx="0" cy="0"/>
        </a:xfrm>
      </p:grpSpPr>
      <p:grpSp>
        <p:nvGrpSpPr>
          <p:cNvPr id="102" name="Google Shape;102;p18"/>
          <p:cNvGrpSpPr/>
          <p:nvPr/>
        </p:nvGrpSpPr>
        <p:grpSpPr>
          <a:xfrm>
            <a:off x="0" y="381001"/>
            <a:ext cx="1037850" cy="1016287"/>
            <a:chOff x="0" y="381001"/>
            <a:chExt cx="1037850" cy="1016287"/>
          </a:xfrm>
        </p:grpSpPr>
        <p:sp>
          <p:nvSpPr>
            <p:cNvPr id="103" name="Google Shape;103;p1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7" name="Shape 107"/>
        <p:cNvGrpSpPr/>
        <p:nvPr/>
      </p:nvGrpSpPr>
      <p:grpSpPr>
        <a:xfrm>
          <a:off x="0" y="0"/>
          <a:ext cx="0" cy="0"/>
          <a:chOff x="0" y="0"/>
          <a:chExt cx="0" cy="0"/>
        </a:xfrm>
      </p:grpSpPr>
      <p:grpSp>
        <p:nvGrpSpPr>
          <p:cNvPr id="108" name="Google Shape;108;p19"/>
          <p:cNvGrpSpPr/>
          <p:nvPr/>
        </p:nvGrpSpPr>
        <p:grpSpPr>
          <a:xfrm>
            <a:off x="0" y="381001"/>
            <a:ext cx="1037850" cy="1016287"/>
            <a:chOff x="0" y="381001"/>
            <a:chExt cx="1037850" cy="1016287"/>
          </a:xfrm>
        </p:grpSpPr>
        <p:sp>
          <p:nvSpPr>
            <p:cNvPr id="109" name="Google Shape;109;p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19"/>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2" name="Google Shape;112;p19"/>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3" name="Google Shape;11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4" name="Shape 114"/>
        <p:cNvGrpSpPr/>
        <p:nvPr/>
      </p:nvGrpSpPr>
      <p:grpSpPr>
        <a:xfrm>
          <a:off x="0" y="0"/>
          <a:ext cx="0" cy="0"/>
          <a:chOff x="0" y="0"/>
          <a:chExt cx="0" cy="0"/>
        </a:xfrm>
      </p:grpSpPr>
      <p:grpSp>
        <p:nvGrpSpPr>
          <p:cNvPr id="115" name="Google Shape;115;p20"/>
          <p:cNvGrpSpPr/>
          <p:nvPr/>
        </p:nvGrpSpPr>
        <p:grpSpPr>
          <a:xfrm>
            <a:off x="4406400" y="0"/>
            <a:ext cx="4737600" cy="5143500"/>
            <a:chOff x="4406400" y="0"/>
            <a:chExt cx="4737600" cy="5143500"/>
          </a:xfrm>
        </p:grpSpPr>
        <p:sp>
          <p:nvSpPr>
            <p:cNvPr id="116" name="Google Shape;116;p20"/>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0"/>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0"/>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0"/>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0"/>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0"/>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0"/>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0"/>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0"/>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0"/>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0"/>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0"/>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0"/>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 name="Google Shape;134;p20"/>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5" name="Google Shape;13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6" name="Shape 136"/>
        <p:cNvGrpSpPr/>
        <p:nvPr/>
      </p:nvGrpSpPr>
      <p:grpSpPr>
        <a:xfrm>
          <a:off x="0" y="0"/>
          <a:ext cx="0" cy="0"/>
          <a:chOff x="0" y="0"/>
          <a:chExt cx="0" cy="0"/>
        </a:xfrm>
      </p:grpSpPr>
      <p:grpSp>
        <p:nvGrpSpPr>
          <p:cNvPr id="137" name="Google Shape;137;p21"/>
          <p:cNvGrpSpPr/>
          <p:nvPr/>
        </p:nvGrpSpPr>
        <p:grpSpPr>
          <a:xfrm>
            <a:off x="0" y="381001"/>
            <a:ext cx="1037850" cy="1016287"/>
            <a:chOff x="0" y="381001"/>
            <a:chExt cx="1037850" cy="1016287"/>
          </a:xfrm>
        </p:grpSpPr>
        <p:sp>
          <p:nvSpPr>
            <p:cNvPr id="138" name="Google Shape;138;p2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 name="Google Shape;140;p21"/>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1" name="Google Shape;141;p21"/>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None/>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42" name="Google Shape;142;p21"/>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3" name="Google Shape;143;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4" name="Shape 144"/>
        <p:cNvGrpSpPr/>
        <p:nvPr/>
      </p:nvGrpSpPr>
      <p:grpSpPr>
        <a:xfrm>
          <a:off x="0" y="0"/>
          <a:ext cx="0" cy="0"/>
          <a:chOff x="0" y="0"/>
          <a:chExt cx="0" cy="0"/>
        </a:xfrm>
      </p:grpSpPr>
      <p:grpSp>
        <p:nvGrpSpPr>
          <p:cNvPr id="145" name="Google Shape;145;p22"/>
          <p:cNvGrpSpPr/>
          <p:nvPr/>
        </p:nvGrpSpPr>
        <p:grpSpPr>
          <a:xfrm>
            <a:off x="0" y="4128572"/>
            <a:ext cx="698925" cy="684657"/>
            <a:chOff x="0" y="3785672"/>
            <a:chExt cx="698925" cy="684657"/>
          </a:xfrm>
        </p:grpSpPr>
        <p:sp>
          <p:nvSpPr>
            <p:cNvPr id="146" name="Google Shape;146;p22"/>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2"/>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22"/>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0" name="Shape 150"/>
        <p:cNvGrpSpPr/>
        <p:nvPr/>
      </p:nvGrpSpPr>
      <p:grpSpPr>
        <a:xfrm>
          <a:off x="0" y="0"/>
          <a:ext cx="0" cy="0"/>
          <a:chOff x="0" y="0"/>
          <a:chExt cx="0" cy="0"/>
        </a:xfrm>
      </p:grpSpPr>
      <p:grpSp>
        <p:nvGrpSpPr>
          <p:cNvPr id="151" name="Google Shape;151;p23"/>
          <p:cNvGrpSpPr/>
          <p:nvPr/>
        </p:nvGrpSpPr>
        <p:grpSpPr>
          <a:xfrm>
            <a:off x="4406400" y="0"/>
            <a:ext cx="4737600" cy="5143065"/>
            <a:chOff x="4406400" y="0"/>
            <a:chExt cx="4737600" cy="5143065"/>
          </a:xfrm>
        </p:grpSpPr>
        <p:sp>
          <p:nvSpPr>
            <p:cNvPr id="152" name="Google Shape;152;p2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 name="Google Shape;170;p2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71" name="Google Shape;171;p23"/>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72" name="Google Shape;17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3" name="Shape 173"/>
        <p:cNvGrpSpPr/>
        <p:nvPr/>
      </p:nvGrpSpPr>
      <p:grpSpPr>
        <a:xfrm>
          <a:off x="0" y="0"/>
          <a:ext cx="0" cy="0"/>
          <a:chOff x="0" y="0"/>
          <a:chExt cx="0" cy="0"/>
        </a:xfrm>
      </p:grpSpPr>
      <p:sp>
        <p:nvSpPr>
          <p:cNvPr id="174" name="Google Shape;17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copy 2" showMasterSp="0">
  <p:cSld name="TITLE_AND_BODY_1">
    <p:bg>
      <p:bgPr>
        <a:solidFill>
          <a:srgbClr val="191D34"/>
        </a:solidFill>
      </p:bgPr>
    </p:bg>
    <p:spTree>
      <p:nvGrpSpPr>
        <p:cNvPr id="175" name="Shape 175"/>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6" name="Shape 17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3.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191D34"/>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 Id="rId90" Type="http://schemas.openxmlformats.org/officeDocument/2006/relationships/image" Target="../media/fragmentUpdated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 Id="rId90" Type="http://schemas.openxmlformats.org/officeDocument/2006/relationships/image" Target="../media/fragmentUpdated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90" Type="http://schemas.openxmlformats.org/officeDocument/2006/relationships/image" Target="../media/fragmentUpdated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151C1D"/>
        </a:solidFill>
        <a:effectLst/>
      </p:bgPr>
    </p:bg>
    <p:spTree>
      <p:nvGrpSpPr>
        <p:cNvPr id="1" name=""/>
        <p:cNvGrpSpPr/>
        <p:nvPr/>
      </p:nvGrpSpPr>
      <p:grpSpPr>
        <a:xfrm>
          <a:off x="0" y="0"/>
          <a:ext cx="0" cy="0"/>
          <a:chOff x="0" y="0"/>
          <a:chExt cx="0" cy="0"/>
        </a:xfrm>
      </p:grpSpPr>
      <p:pic>
        <p:nvPicPr>
          <p:cNvPr id="90" name="Fragment artwork"/>
          <p:cNvPicPr>
            <a:picLocks noChangeAspect="1"/>
          </p:cNvPicPr>
          <p:nvPr/>
        </p:nvPicPr>
        <p:blipFill>
          <a:blip r:embed="rId90"/>
          <a:stretch>
            <a:fillRect/>
          </a:stretch>
        </p:blipFill>
        <p:spPr>
          <a:xfrm>
            <a:off x="320040" y="731520"/>
            <a:ext cx="8503920" cy="2834640"/>
          </a:xfrm>
          <a:prstGeom prst="rect">
            <a:avLst/>
          </a:prstGeom>
        </p:spPr>
      </p:pic>
      <p:sp>
        <p:nvSpPr>
          <p:cNvPr id="2" name="Text 2"/>
          <p:cNvSpPr txBox="1"/>
          <p:nvPr/>
        </p:nvSpPr>
        <p:spPr>
          <a:xfrm>
            <a:off x="640080" y="3657600"/>
            <a:ext cx="7863840" cy="914400"/>
          </a:xfrm>
          <a:prstGeom prst="rect">
            <a:avLst/>
          </a:prstGeom>
          <a:noFill/>
          <a:ln>
            <a:noFill/>
          </a:ln>
        </p:spPr>
        <p:txBody>
          <a:bodyPr wrap="square" lIns="0" rIns="0" tIns="0" bIns="0"/>
          <a:lstStyle/>
          <a:p>
            <a:pPr>
              <a:buNone/>
            </a:pPr>
            <a:r>
              <a:rPr lang="en-US" sz="2500" b="0">
                <a:solidFill>
                  <a:srgbClr val="EAE5D8"/>
                </a:solidFill>
                <a:latin typeface="Inter"/>
              </a:rPr>
              <a:t>A cooperative puzzle game</a:t>
            </a:r>
          </a:p>
          <a:p>
            <a:pPr>
              <a:buNone/>
            </a:pPr>
            <a:r>
              <a:rPr lang="en-US" sz="2500" b="0">
                <a:solidFill>
                  <a:srgbClr val="EAE5D8"/>
                </a:solidFill>
                <a:latin typeface="Inter"/>
              </a:rPr>
              <a:t>where the radio listens</a:t>
            </a:r>
          </a:p>
        </p:txBody>
      </p:sp>
      <p:sp>
        <p:nvSpPr>
          <p:cNvPr id="99" name="Text 99"/>
          <p:cNvSpPr txBox="1"/>
          <p:nvPr/>
        </p:nvSpPr>
        <p:spPr>
          <a:xfrm>
            <a:off x="8321040" y="4754880"/>
            <a:ext cx="365760" cy="228600"/>
          </a:xfrm>
          <a:prstGeom prst="rect">
            <a:avLst/>
          </a:prstGeom>
          <a:noFill/>
          <a:ln>
            <a:noFill/>
          </a:ln>
        </p:spPr>
        <p:txBody>
          <a:bodyPr wrap="square" lIns="0" rIns="0" tIns="0" bIns="0"/>
          <a:lstStyle/>
          <a:p>
            <a:pPr>
              <a:buNone/>
            </a:pPr>
            <a:r>
              <a:rPr lang="en-US" sz="1000" b="0">
                <a:solidFill>
                  <a:srgbClr val="8B9690"/>
                </a:solidFill>
                <a:latin typeface="Inter"/>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151C1D"/>
        </a:solidFill>
        <a:effectLst/>
      </p:bgPr>
    </p:bg>
    <p:spTree>
      <p:nvGrpSpPr>
        <p:cNvPr id="1" name=""/>
        <p:cNvGrpSpPr/>
        <p:nvPr/>
      </p:nvGrpSpPr>
      <p:grpSpPr>
        <a:xfrm>
          <a:off x="0" y="0"/>
          <a:ext cx="0" cy="0"/>
          <a:chOff x="0" y="0"/>
          <a:chExt cx="0" cy="0"/>
        </a:xfrm>
      </p:grpSpPr>
      <p:sp>
        <p:nvSpPr>
          <p:cNvPr id="2" name="Text 2"/>
          <p:cNvSpPr txBox="1"/>
          <p:nvPr/>
        </p:nvSpPr>
        <p:spPr>
          <a:xfrm>
            <a:off x="594360" y="502920"/>
            <a:ext cx="7955280" cy="914400"/>
          </a:xfrm>
          <a:prstGeom prst="rect">
            <a:avLst/>
          </a:prstGeom>
          <a:noFill/>
          <a:ln>
            <a:noFill/>
          </a:ln>
        </p:spPr>
        <p:txBody>
          <a:bodyPr wrap="square" lIns="0" rIns="0" tIns="0" bIns="0"/>
          <a:lstStyle/>
          <a:p>
            <a:pPr>
              <a:buNone/>
            </a:pPr>
            <a:r>
              <a:rPr lang="en-US" sz="3200" b="1">
                <a:solidFill>
                  <a:srgbClr val="EAE5D8"/>
                </a:solidFill>
                <a:latin typeface="Inter"/>
              </a:rPr>
              <a:t>The radio changes the conversation</a:t>
            </a:r>
          </a:p>
        </p:txBody>
      </p:sp>
      <p:sp>
        <p:nvSpPr>
          <p:cNvPr id="3" name="Text 3"/>
          <p:cNvSpPr txBox="1"/>
          <p:nvPr/>
        </p:nvSpPr>
        <p:spPr>
          <a:xfrm>
            <a:off x="640080" y="1554480"/>
            <a:ext cx="3063240" cy="2926080"/>
          </a:xfrm>
          <a:prstGeom prst="rect">
            <a:avLst/>
          </a:prstGeom>
          <a:noFill/>
          <a:ln>
            <a:noFill/>
          </a:ln>
        </p:spPr>
        <p:txBody>
          <a:bodyPr wrap="square" lIns="0" rIns="0" tIns="0" bIns="0"/>
          <a:lstStyle/>
          <a:p>
            <a:pPr>
              <a:buNone/>
            </a:pPr>
            <a:r>
              <a:rPr lang="en-US" sz="2000" b="0">
                <a:solidFill>
                  <a:srgbClr val="EAE5D8"/>
                </a:solidFill>
                <a:latin typeface="Inter"/>
              </a:rPr>
              <a:t>You see one part of the puzzle.</a:t>
            </a:r>
          </a:p>
          <a:p>
            <a:pPr>
              <a:buNone/>
            </a:pPr>
            <a:r>
              <a:rPr lang="en-US" sz="2000" b="0">
                <a:solidFill>
                  <a:srgbClr val="EAE5D8"/>
                </a:solidFill>
                <a:latin typeface="Inter"/>
              </a:rPr>
              <a:t/>
            </a:r>
          </a:p>
          <a:p>
            <a:pPr>
              <a:buNone/>
            </a:pPr>
            <a:r>
              <a:rPr lang="en-US" sz="2000" b="0">
                <a:solidFill>
                  <a:srgbClr val="EAE5D8"/>
                </a:solidFill>
                <a:latin typeface="Inter"/>
              </a:rPr>
              <a:t>Your team has the missing pieces.</a:t>
            </a:r>
          </a:p>
          <a:p>
            <a:pPr>
              <a:buNone/>
            </a:pPr>
            <a:r>
              <a:rPr lang="en-US" sz="2000" b="0">
                <a:solidFill>
                  <a:srgbClr val="EAE5D8"/>
                </a:solidFill>
                <a:latin typeface="Inter"/>
              </a:rPr>
              <a:t/>
            </a:r>
          </a:p>
          <a:p>
            <a:pPr>
              <a:buNone/>
            </a:pPr>
            <a:r>
              <a:rPr lang="en-US" sz="2000" b="0">
                <a:solidFill>
                  <a:srgbClr val="EAE5D8"/>
                </a:solidFill>
                <a:latin typeface="Inter"/>
              </a:rPr>
              <a:t>The radio blocks obvious words.</a:t>
            </a:r>
          </a:p>
        </p:txBody>
      </p:sp>
      <p:pic>
        <p:nvPicPr>
          <p:cNvPr id="90" name="Fragment artwork"/>
          <p:cNvPicPr>
            <a:picLocks noChangeAspect="1"/>
          </p:cNvPicPr>
          <p:nvPr/>
        </p:nvPicPr>
        <p:blipFill>
          <a:blip r:embed="rId90"/>
          <a:stretch>
            <a:fillRect/>
          </a:stretch>
        </p:blipFill>
        <p:spPr>
          <a:xfrm>
            <a:off x="3977640" y="1508760"/>
            <a:ext cx="4663440" cy="2624798"/>
          </a:xfrm>
          <a:prstGeom prst="rect">
            <a:avLst/>
          </a:prstGeom>
        </p:spPr>
      </p:pic>
      <p:sp>
        <p:nvSpPr>
          <p:cNvPr id="99" name="Text 99"/>
          <p:cNvSpPr txBox="1"/>
          <p:nvPr/>
        </p:nvSpPr>
        <p:spPr>
          <a:xfrm>
            <a:off x="8321040" y="4754880"/>
            <a:ext cx="365760" cy="228600"/>
          </a:xfrm>
          <a:prstGeom prst="rect">
            <a:avLst/>
          </a:prstGeom>
          <a:noFill/>
          <a:ln>
            <a:noFill/>
          </a:ln>
        </p:spPr>
        <p:txBody>
          <a:bodyPr wrap="square" lIns="0" rIns="0" tIns="0" bIns="0"/>
          <a:lstStyle/>
          <a:p>
            <a:pPr>
              <a:buNone/>
            </a:pPr>
            <a:r>
              <a:rPr lang="en-US" sz="1000" b="0">
                <a:solidFill>
                  <a:srgbClr val="8B9690"/>
                </a:solidFill>
                <a:latin typeface="Inter"/>
              </a:rPr>
              <a:t>02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151C1D"/>
        </a:solidFill>
        <a:effectLst/>
      </p:bgPr>
    </p:bg>
    <p:spTree>
      <p:nvGrpSpPr>
        <p:cNvPr id="1" name=""/>
        <p:cNvGrpSpPr/>
        <p:nvPr/>
      </p:nvGrpSpPr>
      <p:grpSpPr>
        <a:xfrm>
          <a:off x="0" y="0"/>
          <a:ext cx="0" cy="0"/>
          <a:chOff x="0" y="0"/>
          <a:chExt cx="0" cy="0"/>
        </a:xfrm>
      </p:grpSpPr>
      <p:sp>
        <p:nvSpPr>
          <p:cNvPr id="2" name="Text 2"/>
          <p:cNvSpPr txBox="1"/>
          <p:nvPr/>
        </p:nvSpPr>
        <p:spPr>
          <a:xfrm>
            <a:off x="594360" y="502920"/>
            <a:ext cx="7955280" cy="914400"/>
          </a:xfrm>
          <a:prstGeom prst="rect">
            <a:avLst/>
          </a:prstGeom>
          <a:noFill/>
          <a:ln>
            <a:noFill/>
          </a:ln>
        </p:spPr>
        <p:txBody>
          <a:bodyPr wrap="square" lIns="0" rIns="0" tIns="0" bIns="0"/>
          <a:lstStyle/>
          <a:p>
            <a:pPr>
              <a:buNone/>
            </a:pPr>
            <a:r>
              <a:rPr lang="en-US" sz="3200" b="1">
                <a:solidFill>
                  <a:srgbClr val="EAE5D8"/>
                </a:solidFill>
                <a:latin typeface="Inter"/>
              </a:rPr>
              <a:t>A language only your team understands</a:t>
            </a:r>
          </a:p>
        </p:txBody>
      </p:sp>
      <p:sp>
        <p:nvSpPr>
          <p:cNvPr id="3" name="Text 3"/>
          <p:cNvSpPr txBox="1"/>
          <p:nvPr/>
        </p:nvSpPr>
        <p:spPr>
          <a:xfrm>
            <a:off x="640080" y="1463040"/>
            <a:ext cx="7772400" cy="1143000"/>
          </a:xfrm>
          <a:prstGeom prst="rect">
            <a:avLst/>
          </a:prstGeom>
          <a:noFill/>
          <a:ln>
            <a:noFill/>
          </a:ln>
        </p:spPr>
        <p:txBody>
          <a:bodyPr wrap="square" lIns="0" rIns="0" tIns="0" bIns="0"/>
          <a:lstStyle/>
          <a:p>
            <a:pPr>
              <a:buNone/>
            </a:pPr>
            <a:r>
              <a:rPr lang="en-US" sz="3000" b="1">
                <a:solidFill>
                  <a:srgbClr val="A8C7B4"/>
                </a:solidFill>
                <a:latin typeface="Inter"/>
              </a:rPr>
              <a:t>For friends who enjoy</a:t>
            </a:r>
          </a:p>
          <a:p>
            <a:pPr>
              <a:buNone/>
            </a:pPr>
            <a:r>
              <a:rPr lang="en-US" sz="3000" b="1">
                <a:solidFill>
                  <a:srgbClr val="A8C7B4"/>
                </a:solidFill>
                <a:latin typeface="Inter"/>
              </a:rPr>
              <a:t>figuring things out together</a:t>
            </a:r>
          </a:p>
        </p:txBody>
      </p:sp>
      <p:sp>
        <p:nvSpPr>
          <p:cNvPr id="4" name="Text 4"/>
          <p:cNvSpPr txBox="1"/>
          <p:nvPr/>
        </p:nvSpPr>
        <p:spPr>
          <a:xfrm>
            <a:off x="640080" y="2971800"/>
            <a:ext cx="7772400" cy="1554480"/>
          </a:xfrm>
          <a:prstGeom prst="rect">
            <a:avLst/>
          </a:prstGeom>
          <a:noFill/>
          <a:ln>
            <a:noFill/>
          </a:ln>
        </p:spPr>
        <p:txBody>
          <a:bodyPr wrap="square" lIns="0" rIns="0" tIns="0" bIns="0"/>
          <a:lstStyle/>
          <a:p>
            <a:pPr>
              <a:buNone/>
            </a:pPr>
            <a:r>
              <a:rPr lang="en-US" sz="2100" b="0">
                <a:solidFill>
                  <a:srgbClr val="EAE5D8"/>
                </a:solidFill>
                <a:latin typeface="Inter"/>
              </a:rPr>
              <a:t>Describe the picture another way.</a:t>
            </a:r>
          </a:p>
          <a:p>
            <a:pPr>
              <a:buNone/>
            </a:pPr>
            <a:r>
              <a:rPr lang="en-US" sz="2100" b="0">
                <a:solidFill>
                  <a:srgbClr val="EAE5D8"/>
                </a:solidFill>
                <a:latin typeface="Inter"/>
              </a:rPr>
              <a:t>Connect your clues.</a:t>
            </a:r>
          </a:p>
          <a:p>
            <a:pPr>
              <a:buNone/>
            </a:pPr>
            <a:r>
              <a:rPr lang="en-US" sz="2100" b="0">
                <a:solidFill>
                  <a:srgbClr val="EAE5D8"/>
                </a:solidFill>
                <a:latin typeface="Inter"/>
              </a:rPr>
              <a:t>Solve it together.</a:t>
            </a:r>
          </a:p>
        </p:txBody>
      </p:sp>
      <p:sp>
        <p:nvSpPr>
          <p:cNvPr id="99" name="Text 99"/>
          <p:cNvSpPr txBox="1"/>
          <p:nvPr/>
        </p:nvSpPr>
        <p:spPr>
          <a:xfrm>
            <a:off x="8321040" y="4754880"/>
            <a:ext cx="365760" cy="228600"/>
          </a:xfrm>
          <a:prstGeom prst="rect">
            <a:avLst/>
          </a:prstGeom>
          <a:noFill/>
          <a:ln>
            <a:noFill/>
          </a:ln>
        </p:spPr>
        <p:txBody>
          <a:bodyPr wrap="square" lIns="0" rIns="0" tIns="0" bIns="0"/>
          <a:lstStyle/>
          <a:p>
            <a:pPr>
              <a:buNone/>
            </a:pPr>
            <a:r>
              <a:rPr lang="en-US" sz="1000" b="0">
                <a:solidFill>
                  <a:srgbClr val="8B9690"/>
                </a:solidFill>
                <a:latin typeface="Inter"/>
              </a:rPr>
              <a:t>03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151C1D"/>
        </a:solidFill>
        <a:effectLst/>
      </p:bgPr>
    </p:bg>
    <p:spTree>
      <p:nvGrpSpPr>
        <p:cNvPr id="1" name=""/>
        <p:cNvGrpSpPr/>
        <p:nvPr/>
      </p:nvGrpSpPr>
      <p:grpSpPr>
        <a:xfrm>
          <a:off x="0" y="0"/>
          <a:ext cx="0" cy="0"/>
          <a:chOff x="0" y="0"/>
          <a:chExt cx="0" cy="0"/>
        </a:xfrm>
      </p:grpSpPr>
      <p:sp>
        <p:nvSpPr>
          <p:cNvPr id="2" name="Text 2"/>
          <p:cNvSpPr txBox="1"/>
          <p:nvPr/>
        </p:nvSpPr>
        <p:spPr>
          <a:xfrm>
            <a:off x="594360" y="502920"/>
            <a:ext cx="7955280" cy="914400"/>
          </a:xfrm>
          <a:prstGeom prst="rect">
            <a:avLst/>
          </a:prstGeom>
          <a:noFill/>
          <a:ln>
            <a:noFill/>
          </a:ln>
        </p:spPr>
        <p:txBody>
          <a:bodyPr wrap="square" lIns="0" rIns="0" tIns="0" bIns="0"/>
          <a:lstStyle/>
          <a:p>
            <a:pPr>
              <a:buNone/>
            </a:pPr>
            <a:r>
              <a:rPr lang="en-US" sz="3200" b="1">
                <a:solidFill>
                  <a:srgbClr val="EAE5D8"/>
                </a:solidFill>
                <a:latin typeface="Inter"/>
              </a:rPr>
              <a:t>A playable game on iDos</a:t>
            </a:r>
          </a:p>
        </p:txBody>
      </p:sp>
      <p:sp>
        <p:nvSpPr>
          <p:cNvPr id="3" name="Text 3"/>
          <p:cNvSpPr txBox="1"/>
          <p:nvPr/>
        </p:nvSpPr>
        <p:spPr>
          <a:xfrm>
            <a:off x="640080" y="1554480"/>
            <a:ext cx="3063240" cy="2926080"/>
          </a:xfrm>
          <a:prstGeom prst="rect">
            <a:avLst/>
          </a:prstGeom>
          <a:noFill/>
          <a:ln>
            <a:noFill/>
          </a:ln>
        </p:spPr>
        <p:txBody>
          <a:bodyPr wrap="square" lIns="0" rIns="0" tIns="0" bIns="0"/>
          <a:lstStyle/>
          <a:p>
            <a:pPr>
              <a:buNone/>
            </a:pPr>
            <a:r>
              <a:rPr lang="en-US" sz="2000" b="0">
                <a:solidFill>
                  <a:srgbClr val="EAE5D8"/>
                </a:solidFill>
                <a:latin typeface="Inter"/>
              </a:rPr>
              <a:t>4 players in a team</a:t>
            </a:r>
          </a:p>
          <a:p>
            <a:pPr>
              <a:buNone/>
            </a:pPr>
            <a:r>
              <a:rPr lang="en-US" sz="2000" b="0">
                <a:solidFill>
                  <a:srgbClr val="EAE5D8"/>
                </a:solidFill>
                <a:latin typeface="Inter"/>
              </a:rPr>
              <a:t/>
            </a:r>
          </a:p>
          <a:p>
            <a:pPr>
              <a:buNone/>
            </a:pPr>
            <a:r>
              <a:rPr lang="en-US" sz="2000" b="0">
                <a:solidFill>
                  <a:srgbClr val="EAE5D8"/>
                </a:solidFill>
                <a:latin typeface="Inter"/>
              </a:rPr>
              <a:t>5 trials per match, 15 trial types</a:t>
            </a:r>
          </a:p>
          <a:p>
            <a:pPr>
              <a:buNone/>
            </a:pPr>
            <a:r>
              <a:rPr lang="en-US" sz="2000" b="0">
                <a:solidFill>
                  <a:srgbClr val="EAE5D8"/>
                </a:solidFill>
                <a:latin typeface="Inter"/>
              </a:rPr>
              <a:t/>
            </a:r>
          </a:p>
          <a:p>
            <a:pPr>
              <a:buNone/>
            </a:pPr>
            <a:r>
              <a:rPr lang="en-US" sz="2000" b="0">
                <a:solidFill>
                  <a:srgbClr val="EAE5D8"/>
                </a:solidFill>
                <a:latin typeface="Inter"/>
              </a:rPr>
              <a:t>Friend rooms and random matchmaking</a:t>
            </a:r>
          </a:p>
          <a:p>
            <a:pPr>
              <a:buNone/>
            </a:pPr>
            <a:r>
              <a:rPr lang="en-US" sz="2000" b="0">
                <a:solidFill>
                  <a:srgbClr val="EAE5D8"/>
                </a:solidFill>
                <a:latin typeface="Inter"/>
              </a:rPr>
              <a:t/>
            </a:r>
          </a:p>
          <a:p>
            <a:pPr>
              <a:buNone/>
            </a:pPr>
            <a:r>
              <a:rPr lang="en-US" sz="2000" b="0">
                <a:solidFill>
                  <a:srgbClr val="EAE5D8"/>
                </a:solidFill>
                <a:latin typeface="Inter"/>
              </a:rPr>
              <a:t>Bots for practice</a:t>
            </a:r>
          </a:p>
        </p:txBody>
      </p:sp>
      <p:pic>
        <p:nvPicPr>
          <p:cNvPr id="90" name="Fragment artwork"/>
          <p:cNvPicPr>
            <a:picLocks noChangeAspect="1"/>
          </p:cNvPicPr>
          <p:nvPr/>
        </p:nvPicPr>
        <p:blipFill>
          <a:blip r:embed="rId90"/>
          <a:stretch>
            <a:fillRect/>
          </a:stretch>
        </p:blipFill>
        <p:spPr>
          <a:xfrm>
            <a:off x="3977640" y="1508760"/>
            <a:ext cx="4663440" cy="2624798"/>
          </a:xfrm>
          <a:prstGeom prst="rect">
            <a:avLst/>
          </a:prstGeom>
        </p:spPr>
      </p:pic>
      <p:sp>
        <p:nvSpPr>
          <p:cNvPr id="99" name="Text 99"/>
          <p:cNvSpPr txBox="1"/>
          <p:nvPr/>
        </p:nvSpPr>
        <p:spPr>
          <a:xfrm>
            <a:off x="8321040" y="4754880"/>
            <a:ext cx="365760" cy="228600"/>
          </a:xfrm>
          <a:prstGeom prst="rect">
            <a:avLst/>
          </a:prstGeom>
          <a:noFill/>
          <a:ln>
            <a:noFill/>
          </a:ln>
        </p:spPr>
        <p:txBody>
          <a:bodyPr wrap="square" lIns="0" rIns="0" tIns="0" bIns="0"/>
          <a:lstStyle/>
          <a:p>
            <a:pPr>
              <a:buNone/>
            </a:pPr>
            <a:r>
              <a:rPr lang="en-US" sz="1000" b="0">
                <a:solidFill>
                  <a:srgbClr val="8B9690"/>
                </a:solidFill>
                <a:latin typeface="Inter"/>
              </a:rPr>
              <a:t>04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151C1D"/>
        </a:solidFill>
        <a:effectLst/>
      </p:bgPr>
    </p:bg>
    <p:spTree>
      <p:nvGrpSpPr>
        <p:cNvPr id="1" name=""/>
        <p:cNvGrpSpPr/>
        <p:nvPr/>
      </p:nvGrpSpPr>
      <p:grpSpPr>
        <a:xfrm>
          <a:off x="0" y="0"/>
          <a:ext cx="0" cy="0"/>
          <a:chOff x="0" y="0"/>
          <a:chExt cx="0" cy="0"/>
        </a:xfrm>
      </p:grpSpPr>
      <p:sp>
        <p:nvSpPr>
          <p:cNvPr id="2" name="Text 2"/>
          <p:cNvSpPr txBox="1"/>
          <p:nvPr/>
        </p:nvSpPr>
        <p:spPr>
          <a:xfrm>
            <a:off x="594360" y="502920"/>
            <a:ext cx="7955280" cy="914400"/>
          </a:xfrm>
          <a:prstGeom prst="rect">
            <a:avLst/>
          </a:prstGeom>
          <a:noFill/>
          <a:ln>
            <a:noFill/>
          </a:ln>
        </p:spPr>
        <p:txBody>
          <a:bodyPr wrap="square" lIns="0" rIns="0" tIns="0" bIns="0"/>
          <a:lstStyle/>
          <a:p>
            <a:pPr>
              <a:buNone/>
            </a:pPr>
            <a:r>
              <a:rPr lang="en-US" sz="3200" b="1">
                <a:solidFill>
                  <a:srgbClr val="EAE5D8"/>
                </a:solidFill>
                <a:latin typeface="Inter"/>
              </a:rPr>
              <a:t>Signals and FRAG</a:t>
            </a:r>
          </a:p>
        </p:txBody>
      </p:sp>
      <p:sp>
        <p:nvSpPr>
          <p:cNvPr id="3" name="Text 3"/>
          <p:cNvSpPr txBox="1"/>
          <p:nvPr/>
        </p:nvSpPr>
        <p:spPr>
          <a:xfrm>
            <a:off x="640080" y="1463040"/>
            <a:ext cx="7772400" cy="1143000"/>
          </a:xfrm>
          <a:prstGeom prst="rect">
            <a:avLst/>
          </a:prstGeom>
          <a:noFill/>
          <a:ln>
            <a:noFill/>
          </a:ln>
        </p:spPr>
        <p:txBody>
          <a:bodyPr wrap="square" lIns="0" rIns="0" tIns="0" bIns="0"/>
          <a:lstStyle/>
          <a:p>
            <a:pPr>
              <a:buNone/>
            </a:pPr>
            <a:r>
              <a:rPr lang="en-US" sz="3000" b="1">
                <a:solidFill>
                  <a:srgbClr val="A8C7B4"/>
                </a:solidFill>
                <a:latin typeface="Inter"/>
              </a:rPr>
              <a:t>Game currency: Signals</a:t>
            </a:r>
          </a:p>
          <a:p>
            <a:pPr>
              <a:buNone/>
            </a:pPr>
            <a:r>
              <a:rPr lang="en-US" sz="3000" b="1">
                <a:solidFill>
                  <a:srgbClr val="A8C7B4"/>
                </a:solidFill>
                <a:latin typeface="Inter"/>
              </a:rPr>
              <a:t>Solana token: FRAG</a:t>
            </a:r>
          </a:p>
        </p:txBody>
      </p:sp>
      <p:sp>
        <p:nvSpPr>
          <p:cNvPr id="4" name="Text 4"/>
          <p:cNvSpPr txBox="1"/>
          <p:nvPr/>
        </p:nvSpPr>
        <p:spPr>
          <a:xfrm>
            <a:off x="640080" y="2971800"/>
            <a:ext cx="7772400" cy="1554480"/>
          </a:xfrm>
          <a:prstGeom prst="rect">
            <a:avLst/>
          </a:prstGeom>
          <a:noFill/>
          <a:ln>
            <a:noFill/>
          </a:ln>
        </p:spPr>
        <p:txBody>
          <a:bodyPr wrap="square" lIns="0" rIns="0" tIns="0" bIns="0"/>
          <a:lstStyle/>
          <a:p>
            <a:pPr>
              <a:buNone/>
            </a:pPr>
            <a:r>
              <a:rPr lang="en-US" sz="2100" b="0">
                <a:solidFill>
                  <a:srgbClr val="EAE5D8"/>
                </a:solidFill>
                <a:latin typeface="Inter"/>
              </a:rPr>
              <a:t>FRAG is our Solana token.</a:t>
            </a:r>
          </a:p>
          <a:p>
            <a:pPr>
              <a:buNone/>
            </a:pPr>
            <a:r>
              <a:rPr lang="en-US" sz="2100" b="0">
                <a:solidFill>
                  <a:srgbClr val="EAE5D8"/>
                </a:solidFill>
                <a:latin typeface="Inter"/>
              </a:rPr>
              <a:t>Players buy Signals through iDos.</a:t>
            </a:r>
          </a:p>
          <a:p>
            <a:pPr>
              <a:buNone/>
            </a:pPr>
            <a:r>
              <a:rPr lang="en-US" sz="2100" b="0">
                <a:solidFill>
                  <a:srgbClr val="EAE5D8"/>
                </a:solidFill>
                <a:latin typeface="Inter"/>
              </a:rPr>
              <a:t>Signals buy cosmetic items in the game.</a:t>
            </a:r>
          </a:p>
        </p:txBody>
      </p:sp>
      <p:sp>
        <p:nvSpPr>
          <p:cNvPr id="5" name="Text 5"/>
          <p:cNvSpPr txBox="1"/>
          <p:nvPr/>
        </p:nvSpPr>
        <p:spPr>
          <a:xfrm>
            <a:off x="640080" y="4572000"/>
            <a:ext cx="7772400" cy="502920"/>
          </a:xfrm>
          <a:prstGeom prst="rect">
            <a:avLst/>
          </a:prstGeom>
          <a:noFill/>
          <a:ln>
            <a:noFill/>
          </a:ln>
        </p:spPr>
        <p:txBody>
          <a:bodyPr wrap="square" lIns="0" rIns="0" tIns="0" bIns="0"/>
          <a:lstStyle/>
          <a:p>
            <a:pPr>
              <a:buNone/>
            </a:pPr>
            <a:r>
              <a:rPr lang="en-US" sz="1200" b="0">
                <a:solidFill>
                  <a:srgbClr val="B7B8B3"/>
                </a:solidFill>
                <a:latin typeface="Inter"/>
              </a:rPr>
              <a:t>Signals stay in the game. Bot matches earn no economic rewards. NFT cosmetics are planned.</a:t>
            </a:r>
          </a:p>
        </p:txBody>
      </p:sp>
      <p:sp>
        <p:nvSpPr>
          <p:cNvPr id="99" name="Text 99"/>
          <p:cNvSpPr txBox="1"/>
          <p:nvPr/>
        </p:nvSpPr>
        <p:spPr>
          <a:xfrm>
            <a:off x="8321040" y="4754880"/>
            <a:ext cx="365760" cy="228600"/>
          </a:xfrm>
          <a:prstGeom prst="rect">
            <a:avLst/>
          </a:prstGeom>
          <a:noFill/>
          <a:ln>
            <a:noFill/>
          </a:ln>
        </p:spPr>
        <p:txBody>
          <a:bodyPr wrap="square" lIns="0" rIns="0" tIns="0" bIns="0"/>
          <a:lstStyle/>
          <a:p>
            <a:pPr>
              <a:buNone/>
            </a:pPr>
            <a:r>
              <a:rPr lang="en-US" sz="1000" b="0">
                <a:solidFill>
                  <a:srgbClr val="8B9690"/>
                </a:solidFill>
                <a:latin typeface="Inter"/>
              </a:rPr>
              <a:t>05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151C1D"/>
        </a:solidFill>
        <a:effectLst/>
      </p:bgPr>
    </p:bg>
    <p:spTree>
      <p:nvGrpSpPr>
        <p:cNvPr id="1" name=""/>
        <p:cNvGrpSpPr/>
        <p:nvPr/>
      </p:nvGrpSpPr>
      <p:grpSpPr>
        <a:xfrm>
          <a:off x="0" y="0"/>
          <a:ext cx="0" cy="0"/>
          <a:chOff x="0" y="0"/>
          <a:chExt cx="0" cy="0"/>
        </a:xfrm>
      </p:grpSpPr>
      <p:sp>
        <p:nvSpPr>
          <p:cNvPr id="2" name="Text 2"/>
          <p:cNvSpPr txBox="1"/>
          <p:nvPr/>
        </p:nvSpPr>
        <p:spPr>
          <a:xfrm>
            <a:off x="594360" y="502920"/>
            <a:ext cx="7955280" cy="914400"/>
          </a:xfrm>
          <a:prstGeom prst="rect">
            <a:avLst/>
          </a:prstGeom>
          <a:noFill/>
          <a:ln>
            <a:noFill/>
          </a:ln>
        </p:spPr>
        <p:txBody>
          <a:bodyPr wrap="square" lIns="0" rIns="0" tIns="0" bIns="0"/>
          <a:lstStyle/>
          <a:p>
            <a:pPr>
              <a:buNone/>
            </a:pPr>
            <a:r>
              <a:rPr lang="en-US" sz="3200" b="1">
                <a:solidFill>
                  <a:srgbClr val="EAE5D8"/>
                </a:solidFill>
                <a:latin typeface="Inter"/>
              </a:rPr>
              <a:t>The team</a:t>
            </a:r>
          </a:p>
        </p:txBody>
      </p:sp>
      <p:sp>
        <p:nvSpPr>
          <p:cNvPr id="3" name="Text 3"/>
          <p:cNvSpPr txBox="1"/>
          <p:nvPr/>
        </p:nvSpPr>
        <p:spPr>
          <a:xfrm>
            <a:off x="640080" y="1463040"/>
            <a:ext cx="7772400" cy="1143000"/>
          </a:xfrm>
          <a:prstGeom prst="rect">
            <a:avLst/>
          </a:prstGeom>
          <a:noFill/>
          <a:ln>
            <a:noFill/>
          </a:ln>
        </p:spPr>
        <p:txBody>
          <a:bodyPr wrap="square" lIns="0" rIns="0" tIns="0" bIns="0"/>
          <a:lstStyle/>
          <a:p>
            <a:pPr>
              <a:buNone/>
            </a:pPr>
            <a:r>
              <a:rPr lang="en-US" sz="3000" b="1">
                <a:solidFill>
                  <a:srgbClr val="A8C7B4"/>
                </a:solidFill>
                <a:latin typeface="Inter"/>
              </a:rPr>
              <a:t>Two friends building</a:t>
            </a:r>
          </a:p>
          <a:p>
            <a:pPr>
              <a:buNone/>
            </a:pPr>
            <a:r>
              <a:rPr lang="en-US" sz="3000" b="1">
                <a:solidFill>
                  <a:srgbClr val="A8C7B4"/>
                </a:solidFill>
                <a:latin typeface="Inter"/>
              </a:rPr>
              <a:t>a game about communication</a:t>
            </a:r>
          </a:p>
        </p:txBody>
      </p:sp>
      <p:sp>
        <p:nvSpPr>
          <p:cNvPr id="4" name="Text 4"/>
          <p:cNvSpPr txBox="1"/>
          <p:nvPr/>
        </p:nvSpPr>
        <p:spPr>
          <a:xfrm>
            <a:off x="640080" y="2971800"/>
            <a:ext cx="7772400" cy="1554480"/>
          </a:xfrm>
          <a:prstGeom prst="rect">
            <a:avLst/>
          </a:prstGeom>
          <a:noFill/>
          <a:ln>
            <a:noFill/>
          </a:ln>
        </p:spPr>
        <p:txBody>
          <a:bodyPr wrap="square" lIns="0" rIns="0" tIns="0" bIns="0"/>
          <a:lstStyle/>
          <a:p>
            <a:pPr>
              <a:buNone/>
            </a:pPr>
            <a:r>
              <a:rPr lang="en-US" sz="2100" b="0">
                <a:solidFill>
                  <a:srgbClr val="EAE5D8"/>
                </a:solidFill>
                <a:latin typeface="Inter"/>
              </a:rPr>
              <a:t>Dionis and Zhenya</a:t>
            </a:r>
          </a:p>
          <a:p>
            <a:pPr>
              <a:buNone/>
            </a:pPr>
            <a:r>
              <a:rPr lang="en-US" sz="2100" b="0">
                <a:solidFill>
                  <a:srgbClr val="EAE5D8"/>
                </a:solidFill>
                <a:latin typeface="Inter"/>
              </a:rPr>
              <a:t>We build and test Fragment together.</a:t>
            </a:r>
          </a:p>
          <a:p>
            <a:pPr>
              <a:buNone/>
            </a:pPr>
            <a:r>
              <a:rPr lang="en-US" sz="2100" b="0">
                <a:solidFill>
                  <a:srgbClr val="EAE5D8"/>
                </a:solidFill>
                <a:latin typeface="Inter"/>
              </a:rPr>
              <a:t>We improve it through real play sessions.</a:t>
            </a:r>
          </a:p>
        </p:txBody>
      </p:sp>
      <p:sp>
        <p:nvSpPr>
          <p:cNvPr id="99" name="Text 99"/>
          <p:cNvSpPr txBox="1"/>
          <p:nvPr/>
        </p:nvSpPr>
        <p:spPr>
          <a:xfrm>
            <a:off x="8321040" y="4754880"/>
            <a:ext cx="365760" cy="228600"/>
          </a:xfrm>
          <a:prstGeom prst="rect">
            <a:avLst/>
          </a:prstGeom>
          <a:noFill/>
          <a:ln>
            <a:noFill/>
          </a:ln>
        </p:spPr>
        <p:txBody>
          <a:bodyPr wrap="square" lIns="0" rIns="0" tIns="0" bIns="0"/>
          <a:lstStyle/>
          <a:p>
            <a:pPr>
              <a:buNone/>
            </a:pPr>
            <a:r>
              <a:rPr lang="en-US" sz="1000" b="0">
                <a:solidFill>
                  <a:srgbClr val="8B9690"/>
                </a:solidFill>
                <a:latin typeface="Inter"/>
              </a:rPr>
              <a:t>06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151C1D"/>
        </a:solidFill>
        <a:effectLst/>
      </p:bgPr>
    </p:bg>
    <p:spTree>
      <p:nvGrpSpPr>
        <p:cNvPr id="1" name=""/>
        <p:cNvGrpSpPr/>
        <p:nvPr/>
      </p:nvGrpSpPr>
      <p:grpSpPr>
        <a:xfrm>
          <a:off x="0" y="0"/>
          <a:ext cx="0" cy="0"/>
          <a:chOff x="0" y="0"/>
          <a:chExt cx="0" cy="0"/>
        </a:xfrm>
      </p:grpSpPr>
      <p:sp>
        <p:nvSpPr>
          <p:cNvPr id="2" name="Text 2"/>
          <p:cNvSpPr txBox="1"/>
          <p:nvPr/>
        </p:nvSpPr>
        <p:spPr>
          <a:xfrm>
            <a:off x="594360" y="502920"/>
            <a:ext cx="7955280" cy="914400"/>
          </a:xfrm>
          <a:prstGeom prst="rect">
            <a:avLst/>
          </a:prstGeom>
          <a:noFill/>
          <a:ln>
            <a:noFill/>
          </a:ln>
        </p:spPr>
        <p:txBody>
          <a:bodyPr wrap="square" lIns="0" rIns="0" tIns="0" bIns="0"/>
          <a:lstStyle/>
          <a:p>
            <a:pPr>
              <a:buNone/>
            </a:pPr>
            <a:r>
              <a:rPr lang="en-US" sz="3200" b="1">
                <a:solidFill>
                  <a:srgbClr val="EAE5D8"/>
                </a:solidFill>
                <a:latin typeface="Inter"/>
              </a:rPr>
              <a:t>What comes next</a:t>
            </a:r>
          </a:p>
        </p:txBody>
      </p:sp>
      <p:sp>
        <p:nvSpPr>
          <p:cNvPr id="3" name="Text 3"/>
          <p:cNvSpPr txBox="1"/>
          <p:nvPr/>
        </p:nvSpPr>
        <p:spPr>
          <a:xfrm>
            <a:off x="640080" y="1463040"/>
            <a:ext cx="7772400" cy="1143000"/>
          </a:xfrm>
          <a:prstGeom prst="rect">
            <a:avLst/>
          </a:prstGeom>
          <a:noFill/>
          <a:ln>
            <a:noFill/>
          </a:ln>
        </p:spPr>
        <p:txBody>
          <a:bodyPr wrap="square" lIns="0" rIns="0" tIns="0" bIns="0"/>
          <a:lstStyle/>
          <a:p>
            <a:pPr>
              <a:buNone/>
            </a:pPr>
            <a:r>
              <a:rPr lang="en-US" sz="3000" b="1">
                <a:solidFill>
                  <a:srgbClr val="A8C7B4"/>
                </a:solidFill>
                <a:latin typeface="Inter"/>
              </a:rPr>
              <a:t>Play Fragment</a:t>
            </a:r>
          </a:p>
        </p:txBody>
      </p:sp>
      <p:sp>
        <p:nvSpPr>
          <p:cNvPr id="4" name="Text 4"/>
          <p:cNvSpPr txBox="1"/>
          <p:nvPr/>
        </p:nvSpPr>
        <p:spPr>
          <a:xfrm>
            <a:off x="640080" y="2971800"/>
            <a:ext cx="7772400" cy="1554480"/>
          </a:xfrm>
          <a:prstGeom prst="rect">
            <a:avLst/>
          </a:prstGeom>
          <a:noFill/>
          <a:ln>
            <a:noFill/>
          </a:ln>
        </p:spPr>
        <p:txBody>
          <a:bodyPr wrap="square" lIns="0" rIns="0" tIns="0" bIns="0"/>
          <a:lstStyle/>
          <a:p>
            <a:pPr>
              <a:buNone/>
            </a:pPr>
            <a:r>
              <a:rPr lang="en-US" sz="2100" b="0">
                <a:solidFill>
                  <a:srgbClr val="EAE5D8"/>
                </a:solidFill>
                <a:latin typeface="Inter"/>
              </a:rPr>
              <a:t>Clearer tutorials and reasons to return</a:t>
            </a:r>
          </a:p>
          <a:p>
            <a:pPr>
              <a:buNone/>
            </a:pPr>
            <a:r>
              <a:rPr lang="en-US" sz="2100" b="0">
                <a:solidFill>
                  <a:srgbClr val="EAE5D8"/>
                </a:solidFill>
                <a:latin typeface="Inter"/>
              </a:rPr>
              <a:t>Gameplay clips and community playtests</a:t>
            </a:r>
          </a:p>
          <a:p>
            <a:pPr>
              <a:buNone/>
            </a:pPr>
            <a:r>
              <a:rPr lang="en-US" sz="2100" b="0">
                <a:solidFill>
                  <a:srgbClr val="EAE5D8"/>
                </a:solidFill>
                <a:latin typeface="Inter"/>
              </a:rPr>
              <a:t>Optional cosmetics to support the game</a:t>
            </a:r>
          </a:p>
        </p:txBody>
      </p:sp>
      <p:sp>
        <p:nvSpPr>
          <p:cNvPr id="5" name="Text 5"/>
          <p:cNvSpPr txBox="1"/>
          <p:nvPr/>
        </p:nvSpPr>
        <p:spPr>
          <a:xfrm>
            <a:off x="640080" y="4572000"/>
            <a:ext cx="7772400" cy="502920"/>
          </a:xfrm>
          <a:prstGeom prst="rect">
            <a:avLst/>
          </a:prstGeom>
          <a:noFill/>
          <a:ln>
            <a:noFill/>
          </a:ln>
        </p:spPr>
        <p:txBody>
          <a:bodyPr wrap="square" lIns="0" rIns="0" tIns="0" bIns="0"/>
          <a:lstStyle/>
          <a:p>
            <a:pPr>
              <a:buNone/>
            </a:pPr>
            <a:r>
              <a:rPr lang="en-US" sz="1200" b="0">
                <a:solidFill>
                  <a:srgbClr val="B7B8B3"/>
                </a:solidFill>
                <a:latin typeface="Inter"/>
              </a:rPr>
              <a:t>49hlin0j.idos.games</a:t>
            </a:r>
          </a:p>
          <a:p>
            <a:pPr>
              <a:buNone/>
            </a:pPr>
            <a:r>
              <a:rPr lang="en-US" sz="1200" b="0">
                <a:solidFill>
                  <a:srgbClr val="B7B8B3"/>
                </a:solidFill>
                <a:latin typeface="Inter"/>
              </a:rPr>
              <a:t>GitHub: stemdionis-crypto/Fragment</a:t>
            </a:r>
          </a:p>
        </p:txBody>
      </p:sp>
      <p:sp>
        <p:nvSpPr>
          <p:cNvPr id="99" name="Text 99"/>
          <p:cNvSpPr txBox="1"/>
          <p:nvPr/>
        </p:nvSpPr>
        <p:spPr>
          <a:xfrm>
            <a:off x="8321040" y="4754880"/>
            <a:ext cx="365760" cy="228600"/>
          </a:xfrm>
          <a:prstGeom prst="rect">
            <a:avLst/>
          </a:prstGeom>
          <a:noFill/>
          <a:ln>
            <a:noFill/>
          </a:ln>
        </p:spPr>
        <p:txBody>
          <a:bodyPr wrap="square" lIns="0" rIns="0" tIns="0" bIns="0"/>
          <a:lstStyle/>
          <a:p>
            <a:pPr>
              <a:buNone/>
            </a:pPr>
            <a:r>
              <a:rPr lang="en-US" sz="1000" b="0">
                <a:solidFill>
                  <a:srgbClr val="8B9690"/>
                </a:solidFill>
                <a:latin typeface="Inter"/>
              </a:rPr>
              <a:t>07</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6A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